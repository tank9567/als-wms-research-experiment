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778" autoAdjust="0"/>
  </p:normalViewPr>
  <p:slideViewPr>
    <p:cSldViewPr snapToGrid="0" snapToObjects="1">
      <p:cViewPr varScale="1">
        <p:scale>
          <a:sx n="96" d="100"/>
          <a:sy n="96" d="100"/>
        </p:scale>
        <p:origin x="10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45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안녕하세요. 한국공학대학교 김만수입니다.</a:t>
            </a:r>
          </a:p>
          <a:p>
            <a:r>
              <a:t>오늘 발표 주제는 'LLM 기반 소프트웨어 개발을 위한 구조화된 비즈니스 로직 주입'입니다.</a:t>
            </a:r>
          </a:p>
          <a:p>
            <a:r>
              <a:t>쉽게 말씀드리면, AI에게 코드를 시킬 때 비즈니스 규칙을 어떤 형식으로 전달해야 가장 정확한 결과를 얻을 수 있는지를 실험한 연구입니다.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LLM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생성의</a:t>
            </a:r>
            <a:r>
              <a:rPr dirty="0"/>
              <a:t> 3가지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말씀드리겠습니다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첫째</a:t>
            </a:r>
            <a:r>
              <a:rPr dirty="0"/>
              <a:t>, </a:t>
            </a:r>
            <a:r>
              <a:rPr dirty="0" err="1"/>
              <a:t>비즈니스</a:t>
            </a:r>
            <a:r>
              <a:rPr dirty="0"/>
              <a:t> </a:t>
            </a:r>
            <a:r>
              <a:rPr dirty="0" err="1"/>
              <a:t>로직</a:t>
            </a:r>
            <a:r>
              <a:rPr dirty="0"/>
              <a:t> </a:t>
            </a:r>
            <a:r>
              <a:rPr dirty="0" err="1"/>
              <a:t>누락입니다</a:t>
            </a:r>
            <a:r>
              <a:rPr dirty="0"/>
              <a:t>. </a:t>
            </a:r>
            <a:r>
              <a:rPr dirty="0" err="1"/>
              <a:t>LLM은</a:t>
            </a:r>
            <a:r>
              <a:rPr dirty="0"/>
              <a:t> </a:t>
            </a:r>
            <a:r>
              <a:rPr dirty="0" err="1"/>
              <a:t>기본적인</a:t>
            </a:r>
            <a:r>
              <a:rPr dirty="0"/>
              <a:t> CRUD는 잘 </a:t>
            </a:r>
            <a:r>
              <a:rPr dirty="0" err="1"/>
              <a:t>하지만</a:t>
            </a:r>
            <a:r>
              <a:rPr dirty="0"/>
              <a:t>, '</a:t>
            </a:r>
            <a:r>
              <a:rPr dirty="0" err="1"/>
              <a:t>입고</a:t>
            </a:r>
            <a:r>
              <a:rPr dirty="0"/>
              <a:t> </a:t>
            </a:r>
            <a:r>
              <a:rPr dirty="0" err="1"/>
              <a:t>초과</a:t>
            </a:r>
            <a:r>
              <a:rPr dirty="0"/>
              <a:t> </a:t>
            </a:r>
            <a:r>
              <a:rPr dirty="0" err="1"/>
              <a:t>허용은</a:t>
            </a:r>
            <a:r>
              <a:rPr dirty="0"/>
              <a:t> 10%까지'같은 </a:t>
            </a:r>
            <a:r>
              <a:rPr dirty="0" err="1"/>
              <a:t>도메인</a:t>
            </a:r>
            <a:r>
              <a:rPr dirty="0"/>
              <a:t> </a:t>
            </a:r>
            <a:r>
              <a:rPr dirty="0" err="1"/>
              <a:t>고유</a:t>
            </a:r>
            <a:r>
              <a:rPr dirty="0"/>
              <a:t> </a:t>
            </a:r>
            <a:r>
              <a:rPr dirty="0" err="1"/>
              <a:t>규칙은</a:t>
            </a:r>
            <a:r>
              <a:rPr dirty="0"/>
              <a:t> </a:t>
            </a:r>
            <a:r>
              <a:rPr dirty="0" err="1"/>
              <a:t>누락하거나</a:t>
            </a:r>
            <a:r>
              <a:rPr dirty="0"/>
              <a:t> </a:t>
            </a:r>
            <a:r>
              <a:rPr dirty="0" err="1"/>
              <a:t>임의로</a:t>
            </a:r>
            <a:r>
              <a:rPr dirty="0"/>
              <a:t> </a:t>
            </a:r>
            <a:r>
              <a:rPr dirty="0" err="1"/>
              <a:t>해석합니다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둘째</a:t>
            </a:r>
            <a:r>
              <a:rPr dirty="0"/>
              <a:t>, AI Sycophancy, 즉 </a:t>
            </a:r>
            <a:r>
              <a:rPr dirty="0" err="1"/>
              <a:t>추종성</a:t>
            </a:r>
            <a:r>
              <a:rPr dirty="0"/>
              <a:t> </a:t>
            </a:r>
            <a:r>
              <a:rPr dirty="0" err="1"/>
              <a:t>문제입니다</a:t>
            </a:r>
            <a:r>
              <a:rPr dirty="0"/>
              <a:t>. </a:t>
            </a:r>
            <a:r>
              <a:rPr dirty="0" err="1"/>
              <a:t>기존에</a:t>
            </a:r>
            <a:r>
              <a:rPr dirty="0"/>
              <a:t> 10% </a:t>
            </a:r>
            <a:r>
              <a:rPr dirty="0" err="1"/>
              <a:t>초과입고</a:t>
            </a:r>
            <a:r>
              <a:rPr dirty="0"/>
              <a:t> </a:t>
            </a:r>
            <a:r>
              <a:rPr dirty="0" err="1"/>
              <a:t>제한이</a:t>
            </a:r>
            <a:r>
              <a:rPr dirty="0"/>
              <a:t> </a:t>
            </a:r>
            <a:r>
              <a:rPr dirty="0" err="1"/>
              <a:t>구현되어</a:t>
            </a:r>
            <a:r>
              <a:rPr dirty="0"/>
              <a:t> </a:t>
            </a:r>
            <a:r>
              <a:rPr dirty="0" err="1"/>
              <a:t>있는데</a:t>
            </a:r>
            <a:r>
              <a:rPr dirty="0"/>
              <a:t>, </a:t>
            </a:r>
            <a:r>
              <a:rPr dirty="0" err="1"/>
              <a:t>사용자가</a:t>
            </a:r>
            <a:r>
              <a:rPr dirty="0"/>
              <a:t> '30%까지 </a:t>
            </a:r>
            <a:r>
              <a:rPr dirty="0" err="1"/>
              <a:t>허용해줘'라고</a:t>
            </a:r>
            <a:r>
              <a:rPr dirty="0"/>
              <a:t> </a:t>
            </a:r>
            <a:r>
              <a:rPr dirty="0" err="1"/>
              <a:t>하면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규칙과의</a:t>
            </a:r>
            <a:r>
              <a:rPr dirty="0"/>
              <a:t> </a:t>
            </a:r>
            <a:r>
              <a:rPr dirty="0" err="1"/>
              <a:t>충돌을</a:t>
            </a:r>
            <a:r>
              <a:rPr dirty="0"/>
              <a:t> </a:t>
            </a:r>
            <a:r>
              <a:rPr dirty="0" err="1"/>
              <a:t>경고하지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그냥</a:t>
            </a:r>
            <a:r>
              <a:rPr dirty="0"/>
              <a:t> </a:t>
            </a:r>
            <a:r>
              <a:rPr dirty="0" err="1"/>
              <a:t>바꿔버립니다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셋째</a:t>
            </a:r>
            <a:r>
              <a:rPr dirty="0"/>
              <a:t>,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할루시네이션입니다</a:t>
            </a:r>
            <a:r>
              <a:rPr dirty="0"/>
              <a:t>. </a:t>
            </a:r>
            <a:r>
              <a:rPr dirty="0" err="1"/>
              <a:t>변수명을</a:t>
            </a:r>
            <a:r>
              <a:rPr dirty="0"/>
              <a:t> </a:t>
            </a:r>
            <a:r>
              <a:rPr dirty="0" err="1"/>
              <a:t>임의로</a:t>
            </a:r>
            <a:r>
              <a:rPr dirty="0"/>
              <a:t> </a:t>
            </a:r>
            <a:r>
              <a:rPr dirty="0" err="1"/>
              <a:t>변경하거나</a:t>
            </a:r>
            <a:r>
              <a:rPr dirty="0"/>
              <a:t>, </a:t>
            </a:r>
            <a:r>
              <a:rPr dirty="0" err="1"/>
              <a:t>요청하지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기능을</a:t>
            </a:r>
            <a:r>
              <a:rPr dirty="0"/>
              <a:t> </a:t>
            </a:r>
            <a:r>
              <a:rPr dirty="0" err="1"/>
              <a:t>스스로</a:t>
            </a:r>
            <a:r>
              <a:rPr dirty="0"/>
              <a:t> </a:t>
            </a:r>
            <a:r>
              <a:rPr dirty="0" err="1"/>
              <a:t>추가하는</a:t>
            </a:r>
            <a:r>
              <a:rPr dirty="0"/>
              <a:t> </a:t>
            </a:r>
            <a:r>
              <a:rPr dirty="0" err="1"/>
              <a:t>현상입니다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저희는</a:t>
            </a:r>
            <a:r>
              <a:rPr dirty="0"/>
              <a:t> 이 </a:t>
            </a:r>
            <a:r>
              <a:rPr dirty="0" err="1"/>
              <a:t>문제의</a:t>
            </a:r>
            <a:r>
              <a:rPr dirty="0"/>
              <a:t> </a:t>
            </a:r>
            <a:r>
              <a:rPr dirty="0" err="1"/>
              <a:t>원인이</a:t>
            </a:r>
            <a:r>
              <a:rPr dirty="0"/>
              <a:t> </a:t>
            </a:r>
            <a:r>
              <a:rPr dirty="0" err="1"/>
              <a:t>LLM의</a:t>
            </a:r>
            <a:r>
              <a:rPr dirty="0"/>
              <a:t> </a:t>
            </a:r>
            <a:r>
              <a:rPr dirty="0" err="1"/>
              <a:t>능력</a:t>
            </a:r>
            <a:r>
              <a:rPr dirty="0"/>
              <a:t> </a:t>
            </a:r>
            <a:r>
              <a:rPr dirty="0" err="1"/>
              <a:t>부족이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프롬프트에</a:t>
            </a:r>
            <a:r>
              <a:rPr dirty="0"/>
              <a:t> </a:t>
            </a:r>
            <a:r>
              <a:rPr dirty="0" err="1"/>
              <a:t>제공되는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정보의</a:t>
            </a:r>
            <a:r>
              <a:rPr dirty="0"/>
              <a:t> </a:t>
            </a:r>
            <a:r>
              <a:rPr dirty="0" err="1"/>
              <a:t>부재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비구조성에</a:t>
            </a:r>
            <a:r>
              <a:rPr dirty="0"/>
              <a:t> </a:t>
            </a:r>
            <a:r>
              <a:rPr dirty="0" err="1"/>
              <a:t>있다고</a:t>
            </a:r>
            <a:r>
              <a:rPr dirty="0"/>
              <a:t> </a:t>
            </a:r>
            <a:r>
              <a:rPr dirty="0" err="1"/>
              <a:t>가설을</a:t>
            </a:r>
            <a:r>
              <a:rPr dirty="0"/>
              <a:t> </a:t>
            </a:r>
            <a:r>
              <a:rPr dirty="0" err="1"/>
              <a:t>세웠습니다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가설을 검증하기 위해 세 가지 연구 질문을 설정했습니다.</a:t>
            </a:r>
          </a:p>
          <a:p>
            <a:endParaRPr/>
          </a:p>
          <a:p>
            <a:r>
              <a:t>RQ1은 설계 문서를 제공하면 로직 구현 정확도가 올라가는가, LCR로 측정합니다.</a:t>
            </a:r>
          </a:p>
          <a:p>
            <a:r>
              <a:t>RQ2는 ALS의 Logic Anchoring이 기존 규칙과 충돌하는 요청을 탐지하는가, CDR로 측정합니다.</a:t>
            </a:r>
          </a:p>
          <a:p>
            <a:r>
              <a:t>RQ3는 ALS가 스키마 할루시네이션을 줄이는가, SDC로 측정합니다.</a:t>
            </a:r>
          </a:p>
          <a:p>
            <a:endParaRPr/>
          </a:p>
          <a:p>
            <a:r>
              <a:t>핵심 질문은 '프롬프트 구조만으로 이 문제들을 해결할 수 있는가'입니다.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제안하는 방법론인 Atomic Logic Sheet, ALS를 소개하겠습니다.</a:t>
            </a:r>
          </a:p>
          <a:p>
            <a:endParaRPr/>
          </a:p>
          <a:p>
            <a:r>
              <a:t>ALS는 5가지 설계 원칙에 기반합니다. 가장 중요한 것은 원자성 — 하나의 문서는 하나의 도메인만 다루고, 불변성 — 확정된 규칙은 명시적 승인 없이 변경하지 않는다는 것입니다.</a:t>
            </a:r>
          </a:p>
          <a:p>
            <a:endParaRPr/>
          </a:p>
          <a:p>
            <a:r>
              <a:t>오른쪽의 H-BLI 프레임워크는 비즈니스 로직을 3계층으로 조직합니다. L0은 DDL이나 기술 스택 같은 프로젝트 전체 맥락, L1은 WHEN-THEN-BECAUSE로 구조화된 도메인 규칙, L2는 API 엔드포인트 같은 구현 제약입니다.</a:t>
            </a:r>
          </a:p>
          <a:p>
            <a:endParaRPr/>
          </a:p>
          <a:p>
            <a:r>
              <a:t>이 계층 구조를 통해 LLM이 규칙을 체계적으로 참조할 수 있게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ALS를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자연어</a:t>
            </a:r>
            <a:r>
              <a:rPr dirty="0"/>
              <a:t> </a:t>
            </a:r>
            <a:r>
              <a:rPr dirty="0" err="1"/>
              <a:t>설계문서와</a:t>
            </a:r>
            <a:r>
              <a:rPr dirty="0"/>
              <a:t> </a:t>
            </a:r>
            <a:r>
              <a:rPr dirty="0" err="1"/>
              <a:t>차별화하는</a:t>
            </a:r>
            <a:r>
              <a:rPr dirty="0"/>
              <a:t> 세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요소입니다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첫째</a:t>
            </a:r>
            <a:r>
              <a:rPr dirty="0"/>
              <a:t>, WHEN-THEN-BECAUSE </a:t>
            </a:r>
            <a:r>
              <a:rPr dirty="0" err="1"/>
              <a:t>분해입니다</a:t>
            </a:r>
            <a:r>
              <a:rPr dirty="0"/>
              <a:t>.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규칙을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, </a:t>
            </a:r>
            <a:r>
              <a:rPr dirty="0" err="1"/>
              <a:t>행동</a:t>
            </a:r>
            <a:r>
              <a:rPr dirty="0"/>
              <a:t>,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명시적으로</a:t>
            </a:r>
            <a:r>
              <a:rPr dirty="0"/>
              <a:t> </a:t>
            </a:r>
            <a:r>
              <a:rPr dirty="0" err="1"/>
              <a:t>분리합니다</a:t>
            </a:r>
            <a:r>
              <a:rPr dirty="0"/>
              <a:t>. </a:t>
            </a:r>
            <a:r>
              <a:rPr dirty="0" err="1"/>
              <a:t>특히</a:t>
            </a:r>
            <a:r>
              <a:rPr dirty="0"/>
              <a:t> BECAUSE </a:t>
            </a:r>
            <a:r>
              <a:rPr dirty="0" err="1"/>
              <a:t>절은</a:t>
            </a:r>
            <a:r>
              <a:rPr dirty="0"/>
              <a:t> </a:t>
            </a:r>
            <a:r>
              <a:rPr dirty="0" err="1"/>
              <a:t>규칙의</a:t>
            </a:r>
            <a:r>
              <a:rPr dirty="0"/>
              <a:t> </a:t>
            </a:r>
            <a:r>
              <a:rPr dirty="0" err="1"/>
              <a:t>존재</a:t>
            </a:r>
            <a:r>
              <a:rPr dirty="0"/>
              <a:t> </a:t>
            </a:r>
            <a:r>
              <a:rPr dirty="0" err="1"/>
              <a:t>이유를</a:t>
            </a:r>
            <a:r>
              <a:rPr dirty="0"/>
              <a:t> </a:t>
            </a:r>
            <a:r>
              <a:rPr dirty="0" err="1"/>
              <a:t>명시해서</a:t>
            </a:r>
            <a:r>
              <a:rPr dirty="0"/>
              <a:t>, </a:t>
            </a:r>
            <a:r>
              <a:rPr dirty="0" err="1"/>
              <a:t>나중에</a:t>
            </a:r>
            <a:r>
              <a:rPr dirty="0"/>
              <a:t> </a:t>
            </a:r>
            <a:r>
              <a:rPr dirty="0" err="1"/>
              <a:t>충돌</a:t>
            </a:r>
            <a:r>
              <a:rPr dirty="0"/>
              <a:t> </a:t>
            </a:r>
            <a:r>
              <a:rPr dirty="0" err="1"/>
              <a:t>탐지</a:t>
            </a:r>
            <a:r>
              <a:rPr dirty="0"/>
              <a:t> 시 </a:t>
            </a:r>
            <a:r>
              <a:rPr dirty="0" err="1"/>
              <a:t>거부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활용됩니다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둘째</a:t>
            </a:r>
            <a:r>
              <a:rPr dirty="0"/>
              <a:t>, Anti-</a:t>
            </a:r>
            <a:r>
              <a:rPr dirty="0" err="1"/>
              <a:t>patterns입니다</a:t>
            </a:r>
            <a:r>
              <a:rPr dirty="0"/>
              <a:t>.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흔히</a:t>
            </a:r>
            <a:r>
              <a:rPr dirty="0"/>
              <a:t> </a:t>
            </a:r>
            <a:r>
              <a:rPr dirty="0" err="1"/>
              <a:t>범하는</a:t>
            </a:r>
            <a:r>
              <a:rPr dirty="0"/>
              <a:t> </a:t>
            </a:r>
            <a:r>
              <a:rPr dirty="0" err="1"/>
              <a:t>실수를</a:t>
            </a:r>
            <a:r>
              <a:rPr dirty="0"/>
              <a:t> </a:t>
            </a:r>
            <a:r>
              <a:rPr dirty="0" err="1"/>
              <a:t>명시적으로</a:t>
            </a:r>
            <a:r>
              <a:rPr dirty="0"/>
              <a:t> </a:t>
            </a:r>
            <a:r>
              <a:rPr dirty="0" err="1"/>
              <a:t>금지합니다</a:t>
            </a:r>
            <a:r>
              <a:rPr dirty="0"/>
              <a:t>. </a:t>
            </a:r>
            <a:r>
              <a:rPr dirty="0" err="1"/>
              <a:t>예를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'</a:t>
            </a:r>
            <a:r>
              <a:rPr dirty="0" err="1"/>
              <a:t>검수</a:t>
            </a:r>
            <a:r>
              <a:rPr dirty="0"/>
              <a:t> 중 </a:t>
            </a:r>
            <a:r>
              <a:rPr dirty="0" err="1"/>
              <a:t>단계에서</a:t>
            </a:r>
            <a:r>
              <a:rPr dirty="0"/>
              <a:t> </a:t>
            </a:r>
            <a:r>
              <a:rPr dirty="0" err="1"/>
              <a:t>재고를</a:t>
            </a:r>
            <a:r>
              <a:rPr dirty="0"/>
              <a:t> </a:t>
            </a:r>
            <a:r>
              <a:rPr dirty="0" err="1"/>
              <a:t>업데이트하지</a:t>
            </a:r>
            <a:r>
              <a:rPr dirty="0"/>
              <a:t> </a:t>
            </a:r>
            <a:r>
              <a:rPr dirty="0" err="1"/>
              <a:t>마라'처럼</a:t>
            </a:r>
            <a:r>
              <a:rPr dirty="0"/>
              <a:t> negative </a:t>
            </a:r>
            <a:r>
              <a:rPr dirty="0" err="1"/>
              <a:t>instruction을</a:t>
            </a:r>
            <a:r>
              <a:rPr dirty="0"/>
              <a:t> </a:t>
            </a:r>
            <a:r>
              <a:rPr dirty="0" err="1"/>
              <a:t>제공합니다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셋째</a:t>
            </a:r>
            <a:r>
              <a:rPr dirty="0"/>
              <a:t>, Valid/Invalid </a:t>
            </a:r>
            <a:r>
              <a:rPr dirty="0" err="1"/>
              <a:t>Examples입니다</a:t>
            </a:r>
            <a:r>
              <a:rPr dirty="0"/>
              <a:t>.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입출력</a:t>
            </a:r>
            <a:r>
              <a:rPr dirty="0"/>
              <a:t> </a:t>
            </a:r>
            <a:r>
              <a:rPr dirty="0" err="1"/>
              <a:t>쌍과</a:t>
            </a:r>
            <a:r>
              <a:rPr dirty="0"/>
              <a:t> </a:t>
            </a:r>
            <a:r>
              <a:rPr dirty="0" err="1"/>
              <a:t>잘못된</a:t>
            </a:r>
            <a:r>
              <a:rPr dirty="0"/>
              <a:t> </a:t>
            </a:r>
            <a:r>
              <a:rPr dirty="0" err="1"/>
              <a:t>입출력을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제시해서</a:t>
            </a:r>
            <a:r>
              <a:rPr dirty="0"/>
              <a:t> few-shot learning </a:t>
            </a:r>
            <a:r>
              <a:rPr dirty="0" err="1"/>
              <a:t>효과를</a:t>
            </a:r>
            <a:r>
              <a:rPr dirty="0"/>
              <a:t> </a:t>
            </a:r>
            <a:r>
              <a:rPr dirty="0" err="1"/>
              <a:t>줍니다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Logic </a:t>
            </a:r>
            <a:r>
              <a:rPr dirty="0" err="1"/>
              <a:t>Anchoring은</a:t>
            </a:r>
            <a:r>
              <a:rPr dirty="0"/>
              <a:t> </a:t>
            </a:r>
            <a:r>
              <a:rPr dirty="0" err="1"/>
              <a:t>ALS의</a:t>
            </a:r>
            <a:r>
              <a:rPr dirty="0"/>
              <a:t> </a:t>
            </a:r>
            <a:r>
              <a:rPr dirty="0" err="1"/>
              <a:t>불변성</a:t>
            </a:r>
            <a:r>
              <a:rPr dirty="0"/>
              <a:t> </a:t>
            </a:r>
            <a:r>
              <a:rPr dirty="0" err="1"/>
              <a:t>원칙에</a:t>
            </a:r>
            <a:r>
              <a:rPr dirty="0"/>
              <a:t> </a:t>
            </a:r>
            <a:r>
              <a:rPr dirty="0" err="1"/>
              <a:t>기반한</a:t>
            </a:r>
            <a:r>
              <a:rPr dirty="0"/>
              <a:t> Sycophancy </a:t>
            </a:r>
            <a:r>
              <a:rPr dirty="0" err="1"/>
              <a:t>방어</a:t>
            </a:r>
            <a:r>
              <a:rPr dirty="0"/>
              <a:t> </a:t>
            </a:r>
            <a:r>
              <a:rPr dirty="0" err="1"/>
              <a:t>메커니즘입니다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동작</a:t>
            </a:r>
            <a:r>
              <a:rPr dirty="0"/>
              <a:t> </a:t>
            </a:r>
            <a:r>
              <a:rPr dirty="0" err="1"/>
              <a:t>방식은</a:t>
            </a:r>
            <a:r>
              <a:rPr dirty="0"/>
              <a:t> 3단계입니다. Step 1에서 </a:t>
            </a:r>
            <a:r>
              <a:rPr dirty="0" err="1"/>
              <a:t>ALS에</a:t>
            </a:r>
            <a:r>
              <a:rPr dirty="0"/>
              <a:t> '</a:t>
            </a:r>
            <a:r>
              <a:rPr dirty="0" err="1"/>
              <a:t>초과입고</a:t>
            </a:r>
            <a:r>
              <a:rPr dirty="0"/>
              <a:t> 10% </a:t>
            </a:r>
            <a:r>
              <a:rPr dirty="0" err="1"/>
              <a:t>이상이면</a:t>
            </a:r>
            <a:r>
              <a:rPr dirty="0"/>
              <a:t> </a:t>
            </a:r>
            <a:r>
              <a:rPr dirty="0" err="1"/>
              <a:t>거부'라는</a:t>
            </a:r>
            <a:r>
              <a:rPr dirty="0"/>
              <a:t> </a:t>
            </a:r>
            <a:r>
              <a:rPr dirty="0" err="1"/>
              <a:t>규칙이</a:t>
            </a:r>
            <a:r>
              <a:rPr dirty="0"/>
              <a:t> </a:t>
            </a:r>
            <a:r>
              <a:rPr dirty="0" err="1"/>
              <a:t>명시되어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Step 2에서 </a:t>
            </a:r>
            <a:r>
              <a:rPr dirty="0" err="1"/>
              <a:t>사용자가</a:t>
            </a:r>
            <a:r>
              <a:rPr dirty="0"/>
              <a:t> '30%까지 </a:t>
            </a:r>
            <a:r>
              <a:rPr dirty="0" err="1"/>
              <a:t>허용해줘'라고</a:t>
            </a:r>
            <a:r>
              <a:rPr dirty="0"/>
              <a:t> </a:t>
            </a:r>
            <a:r>
              <a:rPr dirty="0" err="1"/>
              <a:t>요청하면</a:t>
            </a:r>
            <a:r>
              <a:rPr dirty="0"/>
              <a:t>, WHEN </a:t>
            </a:r>
            <a:r>
              <a:rPr dirty="0" err="1"/>
              <a:t>절의</a:t>
            </a:r>
            <a:r>
              <a:rPr dirty="0"/>
              <a:t> 1.1과 </a:t>
            </a:r>
            <a:r>
              <a:rPr dirty="0" err="1"/>
              <a:t>요청된</a:t>
            </a:r>
            <a:r>
              <a:rPr dirty="0"/>
              <a:t> 1.3이 </a:t>
            </a:r>
            <a:r>
              <a:rPr dirty="0" err="1"/>
              <a:t>충돌합니다</a:t>
            </a:r>
            <a:r>
              <a:rPr dirty="0"/>
              <a:t>. Step 3에서 </a:t>
            </a:r>
            <a:r>
              <a:rPr dirty="0" err="1"/>
              <a:t>에이전트가</a:t>
            </a:r>
            <a:r>
              <a:rPr dirty="0"/>
              <a:t> </a:t>
            </a:r>
            <a:r>
              <a:rPr dirty="0" err="1"/>
              <a:t>규칙</a:t>
            </a:r>
            <a:r>
              <a:rPr dirty="0"/>
              <a:t> </a:t>
            </a:r>
            <a:r>
              <a:rPr dirty="0" err="1"/>
              <a:t>번호를</a:t>
            </a:r>
            <a:r>
              <a:rPr dirty="0"/>
              <a:t> </a:t>
            </a:r>
            <a:r>
              <a:rPr dirty="0" err="1"/>
              <a:t>인용하며</a:t>
            </a:r>
            <a:r>
              <a:rPr dirty="0"/>
              <a:t> BECAUSE </a:t>
            </a:r>
            <a:r>
              <a:rPr dirty="0" err="1"/>
              <a:t>절의</a:t>
            </a:r>
            <a:r>
              <a:rPr dirty="0"/>
              <a:t> </a:t>
            </a:r>
            <a:r>
              <a:rPr dirty="0" err="1"/>
              <a:t>근거와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경고를</a:t>
            </a:r>
            <a:r>
              <a:rPr dirty="0"/>
              <a:t> </a:t>
            </a:r>
            <a:r>
              <a:rPr dirty="0" err="1"/>
              <a:t>제공합니다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핵심은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재훈련하지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, </a:t>
            </a:r>
            <a:r>
              <a:rPr dirty="0" err="1"/>
              <a:t>프롬프트에</a:t>
            </a:r>
            <a:r>
              <a:rPr dirty="0"/>
              <a:t> </a:t>
            </a:r>
            <a:r>
              <a:rPr dirty="0" err="1"/>
              <a:t>명시된</a:t>
            </a:r>
            <a:r>
              <a:rPr dirty="0"/>
              <a:t> </a:t>
            </a:r>
            <a:r>
              <a:rPr dirty="0" err="1"/>
              <a:t>규칙</a:t>
            </a:r>
            <a:r>
              <a:rPr dirty="0"/>
              <a:t> </a:t>
            </a:r>
            <a:r>
              <a:rPr dirty="0" err="1"/>
              <a:t>구조만으로</a:t>
            </a:r>
            <a:r>
              <a:rPr dirty="0"/>
              <a:t> </a:t>
            </a:r>
            <a:r>
              <a:rPr dirty="0" err="1"/>
              <a:t>추종성을</a:t>
            </a:r>
            <a:r>
              <a:rPr dirty="0"/>
              <a:t> </a:t>
            </a:r>
            <a:r>
              <a:rPr dirty="0" err="1"/>
              <a:t>방어한다는</a:t>
            </a:r>
            <a:r>
              <a:rPr dirty="0"/>
              <a:t> </a:t>
            </a:r>
            <a:r>
              <a:rPr dirty="0" err="1"/>
              <a:t>점입니다</a:t>
            </a:r>
            <a:r>
              <a:rPr dirty="0"/>
              <a:t>. </a:t>
            </a:r>
            <a:r>
              <a:rPr dirty="0" err="1"/>
              <a:t>자연어</a:t>
            </a:r>
            <a:r>
              <a:rPr dirty="0"/>
              <a:t> </a:t>
            </a:r>
            <a:r>
              <a:rPr dirty="0" err="1"/>
              <a:t>설계문서에서는</a:t>
            </a:r>
            <a:r>
              <a:rPr dirty="0"/>
              <a:t> </a:t>
            </a:r>
            <a:r>
              <a:rPr dirty="0" err="1"/>
              <a:t>규칙</a:t>
            </a:r>
            <a:r>
              <a:rPr dirty="0"/>
              <a:t> </a:t>
            </a:r>
            <a:r>
              <a:rPr dirty="0" err="1"/>
              <a:t>경계가</a:t>
            </a:r>
            <a:r>
              <a:rPr dirty="0"/>
              <a:t> </a:t>
            </a:r>
            <a:r>
              <a:rPr dirty="0" err="1"/>
              <a:t>모호해서</a:t>
            </a:r>
            <a:r>
              <a:rPr dirty="0"/>
              <a:t> </a:t>
            </a:r>
            <a:r>
              <a:rPr dirty="0" err="1"/>
              <a:t>이런</a:t>
            </a:r>
            <a:r>
              <a:rPr dirty="0"/>
              <a:t> </a:t>
            </a:r>
            <a:r>
              <a:rPr dirty="0" err="1"/>
              <a:t>일관된</a:t>
            </a:r>
            <a:r>
              <a:rPr dirty="0"/>
              <a:t> </a:t>
            </a:r>
            <a:r>
              <a:rPr dirty="0" err="1"/>
              <a:t>탐지가</a:t>
            </a:r>
            <a:r>
              <a:rPr dirty="0"/>
              <a:t> </a:t>
            </a:r>
            <a:r>
              <a:rPr dirty="0" err="1"/>
              <a:t>어렵습니다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실험 설계를 말씀드리겠습니다.</a:t>
            </a:r>
          </a:p>
          <a:p>
            <a:endParaRPr/>
          </a:p>
          <a:p>
            <a:r>
              <a:t>3그룹 비교 설계를 채택했습니다. Group A는 요구사항만 제공하는 바이브코딩 대조군, Group B는 자연어 설계문서를 추가로 제공, Group C는 동일한 정보를 ALS 형식으로 구조화해서 제공합니다.</a:t>
            </a:r>
          </a:p>
          <a:p>
            <a:endParaRPr/>
          </a:p>
          <a:p>
            <a:r>
              <a:t>이를 통해 B와 A의 차이로 설계 문서 자체의 정보량 효과를, C와 B의 차이로 ALS 구조화의 고유 효과를 분리 측정합니다.</a:t>
            </a:r>
          </a:p>
          <a:p>
            <a:endParaRPr/>
          </a:p>
          <a:p>
            <a:r>
              <a:t>실험 환경은 WMS 도메인에서 Claude Code CLI 에이전트 모드를 사용했고, 5개 태스크를 점진적으로 수행합니다. 98개 로직 항목, 8개 충돌 시나리오, 19개 테이블로 평가하며, 그룹당 5회 반복했습니다.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RQ1, </a:t>
            </a:r>
            <a:r>
              <a:rPr dirty="0" err="1"/>
              <a:t>로직</a:t>
            </a:r>
            <a:r>
              <a:rPr dirty="0"/>
              <a:t> </a:t>
            </a:r>
            <a:r>
              <a:rPr dirty="0" err="1"/>
              <a:t>준수율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</a:t>
            </a:r>
          </a:p>
          <a:p>
            <a:endParaRPr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LCR은</a:t>
            </a:r>
            <a:r>
              <a:rPr dirty="0"/>
              <a:t> </a:t>
            </a:r>
            <a:r>
              <a:rPr dirty="0" err="1"/>
              <a:t>A가</a:t>
            </a:r>
            <a:r>
              <a:rPr dirty="0"/>
              <a:t> 90.7%, </a:t>
            </a:r>
            <a:r>
              <a:rPr dirty="0" err="1"/>
              <a:t>B가</a:t>
            </a:r>
            <a:r>
              <a:rPr dirty="0"/>
              <a:t> 94.7%, </a:t>
            </a:r>
            <a:r>
              <a:rPr dirty="0" err="1"/>
              <a:t>C가</a:t>
            </a:r>
            <a:r>
              <a:rPr dirty="0"/>
              <a:t> 96.1%입니다.</a:t>
            </a:r>
            <a:br>
              <a:rPr lang="en-US" dirty="0"/>
            </a:br>
            <a:r>
              <a:rPr lang="en-US" dirty="0"/>
              <a:t>--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Compliance Rate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로직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준수율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| LLM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생성한 코드가 비즈니스 규칙을 얼마나 정확히 구현했는지 측정하는 지표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(RQ1)  </a:t>
            </a:r>
            <a:r>
              <a:rPr lang="en-US" dirty="0"/>
              <a:t>--</a:t>
            </a:r>
            <a:endParaRPr dirty="0"/>
          </a:p>
          <a:p>
            <a:endParaRPr dirty="0"/>
          </a:p>
          <a:p>
            <a:r>
              <a:rPr dirty="0" err="1"/>
              <a:t>정보량</a:t>
            </a:r>
            <a:r>
              <a:rPr dirty="0"/>
              <a:t> </a:t>
            </a:r>
            <a:r>
              <a:rPr dirty="0" err="1"/>
              <a:t>효과</a:t>
            </a:r>
            <a:r>
              <a:rPr dirty="0"/>
              <a:t>, 즉 B </a:t>
            </a:r>
            <a:r>
              <a:rPr dirty="0" err="1"/>
              <a:t>마이너스</a:t>
            </a:r>
            <a:r>
              <a:rPr dirty="0"/>
              <a:t> </a:t>
            </a:r>
            <a:r>
              <a:rPr dirty="0" err="1"/>
              <a:t>A는</a:t>
            </a:r>
            <a:r>
              <a:rPr dirty="0"/>
              <a:t> </a:t>
            </a:r>
            <a:r>
              <a:rPr dirty="0" err="1"/>
              <a:t>플러스</a:t>
            </a:r>
            <a:r>
              <a:rPr dirty="0"/>
              <a:t> 4.0%p입니다.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문서를</a:t>
            </a:r>
            <a:r>
              <a:rPr dirty="0"/>
              <a:t> </a:t>
            </a:r>
            <a:r>
              <a:rPr dirty="0" err="1"/>
              <a:t>제공하는</a:t>
            </a:r>
            <a:r>
              <a:rPr dirty="0"/>
              <a:t> </a:t>
            </a:r>
            <a:r>
              <a:rPr dirty="0" err="1"/>
              <a:t>것만으로</a:t>
            </a:r>
            <a:r>
              <a:rPr dirty="0"/>
              <a:t> </a:t>
            </a:r>
            <a:r>
              <a:rPr dirty="0" err="1"/>
              <a:t>유의미한</a:t>
            </a:r>
            <a:r>
              <a:rPr dirty="0"/>
              <a:t> </a:t>
            </a:r>
            <a:r>
              <a:rPr dirty="0" err="1"/>
              <a:t>개선이</a:t>
            </a:r>
            <a:r>
              <a:rPr dirty="0"/>
              <a:t> </a:t>
            </a:r>
            <a:r>
              <a:rPr dirty="0" err="1"/>
              <a:t>있었습니다</a:t>
            </a:r>
            <a:r>
              <a:rPr dirty="0"/>
              <a:t>.</a:t>
            </a:r>
          </a:p>
          <a:p>
            <a:r>
              <a:rPr dirty="0" err="1"/>
              <a:t>구조화</a:t>
            </a:r>
            <a:r>
              <a:rPr dirty="0"/>
              <a:t> </a:t>
            </a:r>
            <a:r>
              <a:rPr dirty="0" err="1"/>
              <a:t>효과</a:t>
            </a:r>
            <a:r>
              <a:rPr dirty="0"/>
              <a:t>, C </a:t>
            </a:r>
            <a:r>
              <a:rPr dirty="0" err="1"/>
              <a:t>마이너스</a:t>
            </a:r>
            <a:r>
              <a:rPr dirty="0"/>
              <a:t> </a:t>
            </a:r>
            <a:r>
              <a:rPr dirty="0" err="1"/>
              <a:t>B는</a:t>
            </a:r>
            <a:r>
              <a:rPr dirty="0"/>
              <a:t> </a:t>
            </a:r>
            <a:r>
              <a:rPr dirty="0" err="1"/>
              <a:t>플러스</a:t>
            </a:r>
            <a:r>
              <a:rPr dirty="0"/>
              <a:t> 1.4%p로 </a:t>
            </a:r>
            <a:r>
              <a:rPr dirty="0" err="1"/>
              <a:t>소폭입니다</a:t>
            </a:r>
            <a:r>
              <a:rPr dirty="0"/>
              <a:t>. </a:t>
            </a:r>
            <a:r>
              <a:rPr dirty="0" err="1"/>
              <a:t>태스크별로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방향도</a:t>
            </a:r>
            <a:r>
              <a:rPr dirty="0"/>
              <a:t> </a:t>
            </a:r>
            <a:r>
              <a:rPr dirty="0" err="1"/>
              <a:t>일관되지</a:t>
            </a:r>
            <a:r>
              <a:rPr dirty="0"/>
              <a:t> </a:t>
            </a:r>
            <a:r>
              <a:rPr dirty="0" err="1"/>
              <a:t>않아서</a:t>
            </a:r>
            <a:r>
              <a:rPr dirty="0"/>
              <a:t>, n=5에서 </a:t>
            </a:r>
            <a:r>
              <a:rPr dirty="0" err="1"/>
              <a:t>통계적</a:t>
            </a:r>
            <a:r>
              <a:rPr dirty="0"/>
              <a:t> </a:t>
            </a:r>
            <a:r>
              <a:rPr dirty="0" err="1"/>
              <a:t>유의성을</a:t>
            </a:r>
            <a:r>
              <a:rPr dirty="0"/>
              <a:t> </a:t>
            </a:r>
            <a:r>
              <a:rPr dirty="0" err="1"/>
              <a:t>주장하기</a:t>
            </a:r>
            <a:r>
              <a:rPr dirty="0"/>
              <a:t> </a:t>
            </a:r>
            <a:r>
              <a:rPr dirty="0" err="1"/>
              <a:t>어렵습니다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LCR의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발견은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문서의</a:t>
            </a:r>
            <a:r>
              <a:rPr dirty="0"/>
              <a:t> </a:t>
            </a:r>
            <a:r>
              <a:rPr dirty="0" err="1"/>
              <a:t>존재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동인이며</a:t>
            </a:r>
            <a:r>
              <a:rPr dirty="0"/>
              <a:t>, </a:t>
            </a:r>
            <a:r>
              <a:rPr dirty="0" err="1"/>
              <a:t>ALS의</a:t>
            </a:r>
            <a:r>
              <a:rPr dirty="0"/>
              <a:t> </a:t>
            </a:r>
            <a:r>
              <a:rPr dirty="0" err="1"/>
              <a:t>구조화</a:t>
            </a:r>
            <a:r>
              <a:rPr dirty="0"/>
              <a:t> </a:t>
            </a:r>
            <a:r>
              <a:rPr dirty="0" err="1"/>
              <a:t>형식은</a:t>
            </a:r>
            <a:r>
              <a:rPr dirty="0"/>
              <a:t> </a:t>
            </a:r>
            <a:r>
              <a:rPr dirty="0" err="1"/>
              <a:t>LCR에서는</a:t>
            </a:r>
            <a:r>
              <a:rPr dirty="0"/>
              <a:t> </a:t>
            </a:r>
            <a:r>
              <a:rPr dirty="0" err="1"/>
              <a:t>추가적</a:t>
            </a:r>
            <a:r>
              <a:rPr dirty="0"/>
              <a:t> </a:t>
            </a:r>
            <a:r>
              <a:rPr dirty="0" err="1"/>
              <a:t>이점이</a:t>
            </a:r>
            <a:r>
              <a:rPr dirty="0"/>
              <a:t> </a:t>
            </a:r>
            <a:r>
              <a:rPr dirty="0" err="1"/>
              <a:t>크지</a:t>
            </a:r>
            <a:r>
              <a:rPr dirty="0"/>
              <a:t> </a:t>
            </a:r>
            <a:r>
              <a:rPr dirty="0" err="1"/>
              <a:t>않다는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다음은</a:t>
            </a:r>
            <a:r>
              <a:rPr dirty="0"/>
              <a:t> 이 </a:t>
            </a:r>
            <a:r>
              <a:rPr dirty="0" err="1"/>
              <a:t>연구의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핵심적인</a:t>
            </a:r>
            <a:r>
              <a:rPr dirty="0"/>
              <a:t> </a:t>
            </a:r>
            <a:r>
              <a:rPr dirty="0" err="1"/>
              <a:t>결과인</a:t>
            </a:r>
            <a:r>
              <a:rPr dirty="0"/>
              <a:t> RQ2, </a:t>
            </a:r>
            <a:r>
              <a:rPr dirty="0" err="1"/>
              <a:t>충돌</a:t>
            </a:r>
            <a:r>
              <a:rPr dirty="0"/>
              <a:t> </a:t>
            </a:r>
            <a:r>
              <a:rPr dirty="0" err="1"/>
              <a:t>탐지율입니다</a:t>
            </a:r>
            <a:r>
              <a:rPr dirty="0"/>
              <a:t>.</a:t>
            </a:r>
            <a:endParaRPr lang="en-US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--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 Detection Rate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충돌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탐지율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|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규칙과 충돌하는 요청을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탐지하여 거부하는 비율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(RQ2) </a:t>
            </a:r>
            <a:r>
              <a:rPr lang="en-US" dirty="0"/>
              <a:t>--</a:t>
            </a:r>
            <a:endParaRPr dirty="0"/>
          </a:p>
          <a:p>
            <a:endParaRPr dirty="0"/>
          </a:p>
          <a:p>
            <a:r>
              <a:rPr dirty="0"/>
              <a:t>Group </a:t>
            </a:r>
            <a:r>
              <a:rPr dirty="0" err="1"/>
              <a:t>A는</a:t>
            </a:r>
            <a:r>
              <a:rPr dirty="0"/>
              <a:t> 0%입니다. 8개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, 5회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전부에서</a:t>
            </a:r>
            <a:r>
              <a:rPr dirty="0"/>
              <a:t> </a:t>
            </a:r>
            <a:r>
              <a:rPr dirty="0" err="1"/>
              <a:t>충돌</a:t>
            </a:r>
            <a:r>
              <a:rPr dirty="0"/>
              <a:t> </a:t>
            </a:r>
            <a:r>
              <a:rPr dirty="0" err="1"/>
              <a:t>경고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요청을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수행했습니다</a:t>
            </a:r>
            <a:r>
              <a:rPr dirty="0"/>
              <a:t>. </a:t>
            </a:r>
            <a:r>
              <a:rPr dirty="0" err="1"/>
              <a:t>에이전트가</a:t>
            </a:r>
            <a:r>
              <a:rPr dirty="0"/>
              <a:t> </a:t>
            </a:r>
            <a:r>
              <a:rPr dirty="0" err="1"/>
              <a:t>자기가</a:t>
            </a:r>
            <a:r>
              <a:rPr dirty="0"/>
              <a:t> </a:t>
            </a:r>
            <a:r>
              <a:rPr dirty="0" err="1"/>
              <a:t>작성한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참조할</a:t>
            </a:r>
            <a:r>
              <a:rPr dirty="0"/>
              <a:t> 수 </a:t>
            </a:r>
            <a:r>
              <a:rPr dirty="0" err="1"/>
              <a:t>있는데도</a:t>
            </a:r>
            <a:r>
              <a:rPr dirty="0"/>
              <a:t>,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안의</a:t>
            </a:r>
            <a:r>
              <a:rPr dirty="0"/>
              <a:t> </a:t>
            </a:r>
            <a:r>
              <a:rPr dirty="0" err="1"/>
              <a:t>규칙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충돌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인식하지</a:t>
            </a:r>
            <a:r>
              <a:rPr dirty="0"/>
              <a:t> </a:t>
            </a:r>
            <a:r>
              <a:rPr dirty="0" err="1"/>
              <a:t>못했습니다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Group </a:t>
            </a:r>
            <a:r>
              <a:rPr dirty="0" err="1"/>
              <a:t>B는</a:t>
            </a:r>
            <a:r>
              <a:rPr dirty="0"/>
              <a:t> 17.5%로, </a:t>
            </a:r>
            <a:r>
              <a:rPr dirty="0" err="1"/>
              <a:t>자연어</a:t>
            </a:r>
            <a:r>
              <a:rPr dirty="0"/>
              <a:t> </a:t>
            </a:r>
            <a:r>
              <a:rPr dirty="0" err="1"/>
              <a:t>설계문서가</a:t>
            </a:r>
            <a:r>
              <a:rPr dirty="0"/>
              <a:t> </a:t>
            </a:r>
            <a:r>
              <a:rPr dirty="0" err="1"/>
              <a:t>있어도</a:t>
            </a:r>
            <a:r>
              <a:rPr dirty="0"/>
              <a:t> </a:t>
            </a:r>
            <a:r>
              <a:rPr dirty="0" err="1"/>
              <a:t>산발적</a:t>
            </a:r>
            <a:r>
              <a:rPr dirty="0"/>
              <a:t> </a:t>
            </a:r>
            <a:r>
              <a:rPr dirty="0" err="1"/>
              <a:t>탐지에</a:t>
            </a:r>
            <a:r>
              <a:rPr dirty="0"/>
              <a:t> </a:t>
            </a:r>
            <a:r>
              <a:rPr dirty="0" err="1"/>
              <a:t>그쳤습니다</a:t>
            </a:r>
            <a:r>
              <a:rPr dirty="0"/>
              <a:t>. </a:t>
            </a:r>
            <a:r>
              <a:rPr dirty="0" err="1"/>
              <a:t>시나리오</a:t>
            </a:r>
            <a:r>
              <a:rPr dirty="0"/>
              <a:t> 5-8에서만 4/5로 </a:t>
            </a:r>
            <a:r>
              <a:rPr dirty="0" err="1"/>
              <a:t>안정적이었고</a:t>
            </a:r>
            <a:r>
              <a:rPr dirty="0"/>
              <a:t>, </a:t>
            </a:r>
            <a:r>
              <a:rPr dirty="0" err="1"/>
              <a:t>나머지는</a:t>
            </a:r>
            <a:r>
              <a:rPr dirty="0"/>
              <a:t> 0~1/5입니다. </a:t>
            </a:r>
            <a:r>
              <a:rPr dirty="0" err="1"/>
              <a:t>산문</a:t>
            </a:r>
            <a:r>
              <a:rPr dirty="0"/>
              <a:t> </a:t>
            </a:r>
            <a:r>
              <a:rPr dirty="0" err="1"/>
              <a:t>형태에서는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규칙을</a:t>
            </a:r>
            <a:r>
              <a:rPr dirty="0"/>
              <a:t> </a:t>
            </a:r>
            <a:r>
              <a:rPr dirty="0" err="1"/>
              <a:t>일관되게</a:t>
            </a:r>
            <a:r>
              <a:rPr dirty="0"/>
              <a:t> </a:t>
            </a:r>
            <a:r>
              <a:rPr dirty="0" err="1"/>
              <a:t>찾아</a:t>
            </a:r>
            <a:r>
              <a:rPr dirty="0"/>
              <a:t> </a:t>
            </a:r>
            <a:r>
              <a:rPr dirty="0" err="1"/>
              <a:t>참조하지</a:t>
            </a:r>
            <a:r>
              <a:rPr dirty="0"/>
              <a:t> </a:t>
            </a:r>
            <a:r>
              <a:rPr dirty="0" err="1"/>
              <a:t>못한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Group </a:t>
            </a:r>
            <a:r>
              <a:rPr dirty="0" err="1"/>
              <a:t>C는</a:t>
            </a:r>
            <a:r>
              <a:rPr dirty="0"/>
              <a:t> 100%입니다. 8개 </a:t>
            </a:r>
            <a:r>
              <a:rPr dirty="0" err="1"/>
              <a:t>전부</a:t>
            </a:r>
            <a:r>
              <a:rPr dirty="0"/>
              <a:t>, 5회 </a:t>
            </a:r>
            <a:r>
              <a:rPr dirty="0" err="1"/>
              <a:t>전부에서</a:t>
            </a:r>
            <a:r>
              <a:rPr dirty="0"/>
              <a:t> ALS </a:t>
            </a:r>
            <a:r>
              <a:rPr dirty="0" err="1"/>
              <a:t>규칙</a:t>
            </a:r>
            <a:r>
              <a:rPr dirty="0"/>
              <a:t> </a:t>
            </a:r>
            <a:r>
              <a:rPr dirty="0" err="1"/>
              <a:t>번호를</a:t>
            </a:r>
            <a:r>
              <a:rPr dirty="0"/>
              <a:t> </a:t>
            </a:r>
            <a:r>
              <a:rPr dirty="0" err="1"/>
              <a:t>인용하며</a:t>
            </a:r>
            <a:r>
              <a:rPr dirty="0"/>
              <a:t> </a:t>
            </a:r>
            <a:r>
              <a:rPr dirty="0" err="1"/>
              <a:t>명시적으로</a:t>
            </a:r>
            <a:r>
              <a:rPr dirty="0"/>
              <a:t> </a:t>
            </a:r>
            <a:r>
              <a:rPr dirty="0" err="1"/>
              <a:t>거부했습니다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 </a:t>
            </a:r>
            <a:r>
              <a:rPr dirty="0" err="1"/>
              <a:t>마이너스</a:t>
            </a:r>
            <a:r>
              <a:rPr dirty="0"/>
              <a:t> </a:t>
            </a:r>
            <a:r>
              <a:rPr dirty="0" err="1"/>
              <a:t>B가</a:t>
            </a:r>
            <a:r>
              <a:rPr dirty="0"/>
              <a:t> </a:t>
            </a:r>
            <a:r>
              <a:rPr dirty="0" err="1"/>
              <a:t>플러스</a:t>
            </a:r>
            <a:r>
              <a:rPr dirty="0"/>
              <a:t> 82.5%p입니다. </a:t>
            </a:r>
            <a:r>
              <a:rPr dirty="0" err="1"/>
              <a:t>LCR의</a:t>
            </a:r>
            <a:r>
              <a:rPr dirty="0"/>
              <a:t> 1.4%p와 </a:t>
            </a:r>
            <a:r>
              <a:rPr dirty="0" err="1"/>
              <a:t>극명하게</a:t>
            </a:r>
            <a:r>
              <a:rPr dirty="0"/>
              <a:t> </a:t>
            </a:r>
            <a:r>
              <a:rPr dirty="0" err="1"/>
              <a:t>대조됩니다</a:t>
            </a:r>
            <a:r>
              <a:rPr dirty="0"/>
              <a:t>.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ALS의</a:t>
            </a:r>
            <a:r>
              <a:rPr dirty="0"/>
              <a:t> </a:t>
            </a:r>
            <a:r>
              <a:rPr dirty="0" err="1"/>
              <a:t>차별적</a:t>
            </a:r>
            <a:r>
              <a:rPr dirty="0"/>
              <a:t> </a:t>
            </a:r>
            <a:r>
              <a:rPr dirty="0" err="1"/>
              <a:t>가치입니다</a:t>
            </a:r>
            <a:r>
              <a:rPr dirty="0"/>
              <a:t>. </a:t>
            </a:r>
            <a:r>
              <a:rPr dirty="0" err="1"/>
              <a:t>로직</a:t>
            </a:r>
            <a:r>
              <a:rPr dirty="0"/>
              <a:t> </a:t>
            </a:r>
            <a:r>
              <a:rPr dirty="0" err="1"/>
              <a:t>구현에는</a:t>
            </a:r>
            <a:r>
              <a:rPr dirty="0"/>
              <a:t> </a:t>
            </a:r>
            <a:r>
              <a:rPr dirty="0" err="1"/>
              <a:t>정보의</a:t>
            </a:r>
            <a:r>
              <a:rPr dirty="0"/>
              <a:t> </a:t>
            </a:r>
            <a:r>
              <a:rPr dirty="0" err="1"/>
              <a:t>양이</a:t>
            </a:r>
            <a:r>
              <a:rPr dirty="0"/>
              <a:t>, </a:t>
            </a:r>
            <a:r>
              <a:rPr dirty="0" err="1"/>
              <a:t>충돌</a:t>
            </a:r>
            <a:r>
              <a:rPr dirty="0"/>
              <a:t> </a:t>
            </a:r>
            <a:r>
              <a:rPr dirty="0" err="1"/>
              <a:t>탐지에는</a:t>
            </a:r>
            <a:r>
              <a:rPr dirty="0"/>
              <a:t> </a:t>
            </a:r>
            <a:r>
              <a:rPr dirty="0" err="1"/>
              <a:t>정보의</a:t>
            </a:r>
            <a:r>
              <a:rPr dirty="0"/>
              <a:t> </a:t>
            </a:r>
            <a:r>
              <a:rPr dirty="0" err="1"/>
              <a:t>구조가</a:t>
            </a:r>
            <a:r>
              <a:rPr dirty="0"/>
              <a:t> </a:t>
            </a:r>
            <a:r>
              <a:rPr dirty="0" err="1"/>
              <a:t>핵심이라는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RQ3,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일탈</a:t>
            </a:r>
            <a:r>
              <a:rPr dirty="0"/>
              <a:t> </a:t>
            </a:r>
            <a:r>
              <a:rPr dirty="0" err="1"/>
              <a:t>건수입니다</a:t>
            </a:r>
            <a:r>
              <a:rPr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--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 Deviation Count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스키마 일탈 건수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| LLM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생성한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스키마가 참조 스키마와 얼마나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측정하는 편차 건수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(RQ3).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낮을수록 양호 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  <a:p>
            <a:r>
              <a:rPr dirty="0"/>
              <a:t>Group </a:t>
            </a:r>
            <a:r>
              <a:rPr dirty="0" err="1"/>
              <a:t>A는</a:t>
            </a:r>
            <a:r>
              <a:rPr dirty="0"/>
              <a:t> 44.1건으로 </a:t>
            </a:r>
            <a:r>
              <a:rPr dirty="0" err="1"/>
              <a:t>압도적으로</a:t>
            </a:r>
            <a:r>
              <a:rPr dirty="0"/>
              <a:t> </a:t>
            </a:r>
            <a:r>
              <a:rPr dirty="0" err="1"/>
              <a:t>높습니다</a:t>
            </a:r>
            <a:r>
              <a:rPr dirty="0"/>
              <a:t>. 19개 </a:t>
            </a:r>
            <a:r>
              <a:rPr dirty="0" err="1"/>
              <a:t>참조</a:t>
            </a:r>
            <a:r>
              <a:rPr dirty="0"/>
              <a:t> </a:t>
            </a:r>
            <a:r>
              <a:rPr dirty="0" err="1"/>
              <a:t>테이블</a:t>
            </a:r>
            <a:r>
              <a:rPr dirty="0"/>
              <a:t> 중 </a:t>
            </a:r>
            <a:r>
              <a:rPr dirty="0" err="1"/>
              <a:t>평균</a:t>
            </a:r>
            <a:r>
              <a:rPr dirty="0"/>
              <a:t> 10.7개를 </a:t>
            </a:r>
            <a:r>
              <a:rPr dirty="0" err="1"/>
              <a:t>생성하지</a:t>
            </a:r>
            <a:r>
              <a:rPr dirty="0"/>
              <a:t> </a:t>
            </a:r>
            <a:r>
              <a:rPr dirty="0" err="1"/>
              <a:t>못했고</a:t>
            </a:r>
            <a:r>
              <a:rPr dirty="0"/>
              <a:t>, </a:t>
            </a:r>
            <a:r>
              <a:rPr dirty="0" err="1"/>
              <a:t>컬럼도</a:t>
            </a:r>
            <a:r>
              <a:rPr dirty="0"/>
              <a:t> 31.6개가 </a:t>
            </a:r>
            <a:r>
              <a:rPr dirty="0" err="1"/>
              <a:t>누락되었습니다</a:t>
            </a:r>
            <a:r>
              <a:rPr dirty="0"/>
              <a:t>. </a:t>
            </a:r>
            <a:r>
              <a:rPr dirty="0" err="1"/>
              <a:t>요구사항만으로는</a:t>
            </a:r>
            <a:r>
              <a:rPr dirty="0"/>
              <a:t>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추론하지</a:t>
            </a:r>
            <a:r>
              <a:rPr dirty="0"/>
              <a:t> </a:t>
            </a:r>
            <a:r>
              <a:rPr dirty="0" err="1"/>
              <a:t>못하는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Group </a:t>
            </a:r>
            <a:r>
              <a:rPr dirty="0" err="1"/>
              <a:t>B는</a:t>
            </a:r>
            <a:r>
              <a:rPr dirty="0"/>
              <a:t> 1.0, Group </a:t>
            </a:r>
            <a:r>
              <a:rPr dirty="0" err="1"/>
              <a:t>C는</a:t>
            </a:r>
            <a:r>
              <a:rPr dirty="0"/>
              <a:t> 3.5로,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문서가</a:t>
            </a:r>
            <a:r>
              <a:rPr dirty="0"/>
              <a:t> </a:t>
            </a:r>
            <a:r>
              <a:rPr dirty="0" err="1"/>
              <a:t>있으면</a:t>
            </a:r>
            <a:r>
              <a:rPr dirty="0"/>
              <a:t> 95%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감소합니다</a:t>
            </a:r>
            <a:r>
              <a:rPr dirty="0"/>
              <a:t>. </a:t>
            </a:r>
            <a:r>
              <a:rPr dirty="0" err="1"/>
              <a:t>C의</a:t>
            </a:r>
            <a:r>
              <a:rPr dirty="0"/>
              <a:t> 3.5는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런의</a:t>
            </a:r>
            <a:r>
              <a:rPr dirty="0"/>
              <a:t> </a:t>
            </a:r>
            <a:r>
              <a:rPr dirty="0" err="1"/>
              <a:t>이상치</a:t>
            </a:r>
            <a:r>
              <a:rPr dirty="0"/>
              <a:t> </a:t>
            </a:r>
            <a:r>
              <a:rPr dirty="0" err="1"/>
              <a:t>때문이고</a:t>
            </a:r>
            <a:r>
              <a:rPr dirty="0"/>
              <a:t>, </a:t>
            </a:r>
            <a:r>
              <a:rPr dirty="0" err="1"/>
              <a:t>그것을</a:t>
            </a:r>
            <a:r>
              <a:rPr dirty="0"/>
              <a:t> </a:t>
            </a:r>
            <a:r>
              <a:rPr dirty="0" err="1"/>
              <a:t>제외하면</a:t>
            </a:r>
            <a:r>
              <a:rPr dirty="0"/>
              <a:t> </a:t>
            </a:r>
            <a:r>
              <a:rPr dirty="0" err="1"/>
              <a:t>B와</a:t>
            </a:r>
            <a:r>
              <a:rPr dirty="0"/>
              <a:t> </a:t>
            </a:r>
            <a:r>
              <a:rPr dirty="0" err="1"/>
              <a:t>동등한</a:t>
            </a:r>
            <a:r>
              <a:rPr dirty="0"/>
              <a:t> 1.0입니다.</a:t>
            </a:r>
          </a:p>
          <a:p>
            <a:endParaRPr dirty="0"/>
          </a:p>
          <a:p>
            <a:r>
              <a:rPr dirty="0" err="1"/>
              <a:t>SDC에서도</a:t>
            </a:r>
            <a:r>
              <a:rPr dirty="0"/>
              <a:t> </a:t>
            </a:r>
            <a:r>
              <a:rPr dirty="0" err="1"/>
              <a:t>핵심은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문서의</a:t>
            </a:r>
            <a:r>
              <a:rPr dirty="0"/>
              <a:t> </a:t>
            </a:r>
            <a:r>
              <a:rPr dirty="0" err="1"/>
              <a:t>유무이며</a:t>
            </a:r>
            <a:r>
              <a:rPr dirty="0"/>
              <a:t>, </a:t>
            </a:r>
            <a:r>
              <a:rPr dirty="0" err="1"/>
              <a:t>B와</a:t>
            </a:r>
            <a:r>
              <a:rPr dirty="0"/>
              <a:t> C 간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부차적입니다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종합 논의입니다. 표를 보시면 메트릭별로 핵심 동인이 다릅니다.</a:t>
            </a:r>
          </a:p>
          <a:p>
            <a:endParaRPr/>
          </a:p>
          <a:p>
            <a:r>
              <a:t>LCR과 SDC에서는 정보의 양이 핵심입니다. 설계 문서가 있느냐 없느냐가 결정적이고, 구조화 형식의 추가 효과는 미미합니다.</a:t>
            </a:r>
          </a:p>
          <a:p>
            <a:r>
              <a:t>반면 CDR에서는 정보의 구조가 핵심입니다. 같은 정보라도 구조화하면 82.5%p의 극적인 차이가 납니다.</a:t>
            </a:r>
          </a:p>
          <a:p>
            <a:endParaRPr/>
          </a:p>
          <a:p>
            <a:r>
              <a:t>세 가지 시사점을 정리하면, 첫째 바이브코딩은 위험합니다 — 설계 문서 없이는 에이전트의 반복 수정도 보완이 안 됩니다. 둘째, ALS의 차별적 가치는 충돌 탐지에서 압도적입니다. 셋째, 프롬프트 구조만으로 Sycophancy를 방어할 수 있음을 실증했습니다.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연구의 한계를 말씀드리겠습니다.</a:t>
            </a:r>
          </a:p>
          <a:p>
            <a:endParaRPr/>
          </a:p>
          <a:p>
            <a:r>
              <a:t>가장 큰 한계는 단일 도메인, 단일 LLM이라는 점입니다. WMS에서만, Claude Sonnet 4.5에서만 실험했기 때문에 일반화에 한계가 있습니다.</a:t>
            </a:r>
          </a:p>
          <a:p>
            <a:r>
              <a:t>또한 n=5의 탐색적 연구여서 LCR의 소폭 차이에 대해서는 통계적 유의성을 주장할 수 없습니다.</a:t>
            </a:r>
          </a:p>
          <a:p>
            <a:r>
              <a:t>정적 분석만으로 평가했기 때문에 런타임 정확성은 검증하지 못했습니다.</a:t>
            </a:r>
          </a:p>
          <a:p>
            <a:endParaRPr/>
          </a:p>
          <a:p>
            <a:r>
              <a:t>향후 연구로는 다중 도메인·다중 LLM 검증, ALS 자동 생성 도구 개발, 그리고 실제 팀 협업 환경에서의 검증이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결론입니다.</a:t>
            </a:r>
          </a:p>
          <a:p>
            <a:endParaRPr/>
          </a:p>
          <a:p>
            <a:r>
              <a:t>LCR 96.1%로, 설계 문서의 존재가 로직 준수의 핵심 동인입니다.</a:t>
            </a:r>
          </a:p>
          <a:p>
            <a:r>
              <a:t>CDR 100%로, ALS 구조화가 충돌 탐지의 결정적 변수입니다. 이것이 이 연구의 가장 중요한 기여입니다.</a:t>
            </a:r>
          </a:p>
          <a:p>
            <a:r>
              <a:t>SDC 3.5로, 설계 문서가 스키마를 안정화합니다.</a:t>
            </a:r>
          </a:p>
          <a:p>
            <a:endParaRPr/>
          </a:p>
          <a:p>
            <a:r>
              <a:t>한 마디로 요약하면, Atomic Logic Sheet는 모델 재훈련 없이 프롬프트 구조만으로 LLM의 Sycophancy를 방어할 수 있음을 실증한 연구입니다.</a:t>
            </a:r>
          </a:p>
          <a:p>
            <a:endParaRPr/>
          </a:p>
          <a:p>
            <a:r>
              <a:t>실험 자료 전체는 GitHub 저장소에 공개되어 있습니다.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011680"/>
            <a:ext cx="137160" cy="1645920"/>
          </a:xfrm>
          <a:prstGeom prst="roundRect">
            <a:avLst>
              <a:gd name="adj" fmla="val 2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2011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B949E"/>
                </a:solidFill>
                <a:latin typeface="맑은 고딕"/>
              </a:defRPr>
            </a:pPr>
            <a:r>
              <a:t>LLM 기반 소프트웨어 개발을 위한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구조화된 비즈니스 로직 주입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8A6FF"/>
                </a:solidFill>
                <a:latin typeface="맑은 고딕"/>
              </a:defRPr>
            </a:pPr>
            <a:r>
              <a:t>Atomic Logic Sheet 접근법의 효과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맑은 고딕"/>
              </a:defRPr>
            </a:pPr>
            <a:r>
              <a:t>김만수  |  한국공학대학교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2026. 03.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LLM 기반 코드 생성의 3가지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5349"/>
                </a:solidFill>
                <a:latin typeface="맑은 고딕"/>
              </a:defRPr>
            </a:pPr>
            <a:r>
              <a:t>01  비즈니스 로직 누락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LLM은 기본 CRUD에는 정확하지만,</a:t>
            </a:r>
            <a:br/>
            <a:r>
              <a:t>도메인 고유 세부 규칙을 누락하거나</a:t>
            </a:r>
            <a:br/>
            <a:r>
              <a:t>임의로 해석하는 경향이 있음</a:t>
            </a:r>
            <a:br/>
            <a:br/>
            <a:r>
              <a:t>예) "입고 초과 허용 한도는 10%"</a:t>
            </a:r>
            <a:br/>
            <a:r>
              <a:t>→ 조건 누락하거나 경계값 오류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E22"/>
                </a:solidFill>
                <a:latin typeface="맑은 고딕"/>
              </a:defRPr>
            </a:pPr>
            <a:r>
              <a:t>02  AI Sycophancy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LLM은 사용자 요청을 우선시하여,</a:t>
            </a:r>
            <a:br/>
            <a:r>
              <a:t>기존 규칙과 충돌하는 변경 요청도</a:t>
            </a:r>
            <a:br/>
            <a:r>
              <a:t>경고 없이 수행하는 추종적 행동</a:t>
            </a:r>
            <a:br/>
            <a:br/>
            <a:r>
              <a:t>예) "초과입고 30%까지 허용해줘"</a:t>
            </a:r>
            <a:br/>
            <a:r>
              <a:t>→ 기존 10% 규칙 무시하고 즉시 변경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맑은 고딕"/>
              </a:defRPr>
            </a:pPr>
            <a:r>
              <a:t>03  구현 할루시네이션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LLM이 명시된 설계를 넘어</a:t>
            </a:r>
            <a:br/>
            <a:r>
              <a:t>자체적으로 코드를 확장</a:t>
            </a:r>
            <a:br/>
            <a:br/>
            <a:r>
              <a:t>예) po_id → purchase_order_id</a:t>
            </a:r>
            <a:br/>
            <a:r>
              <a:t>    정의에 없는 필드 추가</a:t>
            </a:r>
            <a:br/>
            <a:r>
              <a:t>    요청하지 않은 기능 삽입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126480"/>
            <a:ext cx="10698480" cy="4572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61447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맑은 고딕"/>
              </a:defRPr>
            </a:pPr>
            <a:r>
              <a:t>가설: 이 문제들의 원인은 LLM의 능력 부족이 아니라, 프롬프트에 제공되는 설계 정보의 부재 또는 비구조성에 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연구 목표 &amp; 연구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맑은 고딕"/>
              </a:defRPr>
            </a:pPr>
            <a:r>
              <a:t>"프롬프트 구조만으로 LLM의 비즈니스 로직 준수와 Sycophancy를 방어할 수 있는가?"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맑은 고딕"/>
              </a:defRPr>
            </a:pPr>
            <a: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맑은 고딕"/>
              </a:defRPr>
            </a:pPr>
            <a:r>
              <a:t>설계 문서를 제공하면 LLM의</a:t>
            </a:r>
            <a:br/>
            <a:r>
              <a:t>비즈니스 로직 구현 정확도가</a:t>
            </a:r>
            <a:br/>
            <a:r>
              <a:t>향상되는가?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029200"/>
            <a:ext cx="2834640" cy="822960"/>
          </a:xfrm>
          <a:prstGeom prst="roundRect">
            <a:avLst>
              <a:gd name="adj" fmla="val 2000"/>
            </a:avLst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FB950"/>
                </a:solidFill>
                <a:latin typeface="맑은 고딕"/>
              </a:defRPr>
            </a:pPr>
            <a:r>
              <a:t>Logic Compliance Rate</a:t>
            </a:r>
            <a:br/>
            <a:r>
              <a:t>(LCR)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46888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8A6FF"/>
                </a:solidFill>
                <a:latin typeface="맑은 고딕"/>
              </a:defRPr>
            </a:pPr>
            <a: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2004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맑은 고딕"/>
              </a:defRPr>
            </a:pPr>
            <a:r>
              <a:t>ALS의 Logic Anchoring은</a:t>
            </a:r>
            <a:br/>
            <a:r>
              <a:t>기존 규칙과 충돌하는 사용자</a:t>
            </a:r>
            <a:br/>
            <a:r>
              <a:t>요청을 탐지하는가?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79" y="5029200"/>
            <a:ext cx="2834640" cy="822960"/>
          </a:xfrm>
          <a:prstGeom prst="roundRect">
            <a:avLst>
              <a:gd name="adj" fmla="val 2000"/>
            </a:avLst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79" y="5074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  <a:latin typeface="맑은 고딕"/>
              </a:defRPr>
            </a:pPr>
            <a:r>
              <a:t>Conflict Detection Rate</a:t>
            </a:r>
            <a:br/>
            <a:r>
              <a:t>(CDR)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68880"/>
            <a:ext cx="338328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29E22"/>
                </a:solidFill>
                <a:latin typeface="맑은 고딕"/>
              </a:defRPr>
            </a:pPr>
            <a: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맑은 고딕"/>
              </a:defRPr>
            </a:pPr>
            <a:r>
              <a:t>ALS를 사용하면 LLM의 스키마</a:t>
            </a:r>
            <a:br/>
            <a:r>
              <a:t>할루시네이션(임의 해석)이</a:t>
            </a:r>
            <a:br/>
            <a:r>
              <a:t>감소하는가?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5029200"/>
            <a:ext cx="2834640" cy="822960"/>
          </a:xfrm>
          <a:prstGeom prst="roundRect">
            <a:avLst>
              <a:gd name="adj" fmla="val 2000"/>
            </a:avLst>
          </a:prstGeom>
          <a:solidFill>
            <a:srgbClr val="1C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5074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29E22"/>
                </a:solidFill>
                <a:latin typeface="맑은 고딕"/>
              </a:defRPr>
            </a:pPr>
            <a:r>
              <a:t>Schema Deviation Count</a:t>
            </a:r>
            <a:br/>
            <a:r>
              <a:t>(SDC)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Atomic Logic Sheet (ALS)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5가지 설계 원칙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P1. Atomicity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하나의 ALS = 하나의 업무 도메인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P2. Self-Containedness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단일 문서만으로 구현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P3. Machine-Readability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WHEN-THEN-BECAUSE 구조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P4. Human-Readability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순수 마크다운, 별도 도구 불필요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5029200" cy="5486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P5. Immutability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074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확정된 규칙은 명시적 승인 없이 불변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H-BLI 3계층 구조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D3A5C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L0 — Project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DDL · Tech Stack · Conventions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39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A3D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L1 — Domain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51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WHEN-THEN-BECAUSE · Anti-patterns · 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12064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3D2E0E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E22"/>
                </a:solidFill>
                <a:latin typeface="맑은 고딕"/>
              </a:defRPr>
            </a:pPr>
            <a:r>
              <a:t>L2 — Implementation Constraint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API Endpoints · Schemas · HTTP Status Codes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모든 계층은 L0을 공통 기반으로 참조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ALS 핵심 구조 요소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WHEN-THEN-BECAUSE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560320"/>
            <a:ext cx="2834640" cy="32004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Rule: Over-Receiving Limit</a:t>
            </a:r>
            <a:br/>
            <a:br/>
            <a:r>
              <a:t>WHEN:</a:t>
            </a:r>
            <a:br/>
            <a:r>
              <a:t>  received_qty + new_qty</a:t>
            </a:r>
            <a:br/>
            <a:r>
              <a:t>  &gt; ordered_qty × 1.1</a:t>
            </a:r>
            <a:br/>
            <a:br/>
            <a:r>
              <a:t>THEN:</a:t>
            </a:r>
            <a:br/>
            <a:r>
              <a:t>  Reject with HTTP 409</a:t>
            </a:r>
            <a:br/>
            <a:br/>
            <a:r>
              <a:t>BECAUSE:</a:t>
            </a:r>
            <a:br/>
            <a:r>
              <a:t>  Over-receiving beyond 10%</a:t>
            </a:r>
            <a:br/>
            <a:r>
              <a:t>  indicates PO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맑은 고딕"/>
              </a:defRPr>
            </a:pPr>
            <a:r>
              <a:t>→ 조건·행동·근거를 명시적 분리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Anti-patterns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560320"/>
            <a:ext cx="2834640" cy="32004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Anti-patterns:</a:t>
            </a:r>
            <a:br/>
            <a:br/>
            <a:r>
              <a:t>✗ DO NOT update inventory</a:t>
            </a:r>
            <a:br/>
            <a:r>
              <a:t>  during 'inspecting' phase.</a:t>
            </a:r>
            <a:br/>
            <a:r>
              <a:t>  Inventory must only increase</a:t>
            </a:r>
            <a:br/>
            <a:r>
              <a:t>  upon 'confirmed' status.</a:t>
            </a:r>
            <a:br/>
            <a:br/>
            <a:r>
              <a:t>✗ DO NOT overwrite</a:t>
            </a:r>
            <a:br/>
            <a:r>
              <a:t>  received_qty.</a:t>
            </a:r>
            <a:br/>
            <a:r>
              <a:t>  Always accumulate:</a:t>
            </a:r>
            <a:br/>
            <a:r>
              <a:t>  received_qty += new_qty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852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5349"/>
                </a:solidFill>
                <a:latin typeface="맑은 고딕"/>
              </a:defRPr>
            </a:pPr>
            <a:r>
              <a:t>→ AI가 흔히 범하는 실수를 명시적 금지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Valid / Invalid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560320"/>
            <a:ext cx="2834640" cy="32004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Valid Example</a:t>
            </a:r>
            <a:br/>
            <a:r>
              <a:t>POST /api/inbound-receipts</a:t>
            </a:r>
            <a:br/>
            <a:r>
              <a:t>{ "quantity": 105 }</a:t>
            </a:r>
            <a:br/>
            <a:r>
              <a:t>// ordered:100, 105≤110</a:t>
            </a:r>
            <a:br/>
            <a:r>
              <a:t>→ 201 Created</a:t>
            </a:r>
            <a:br/>
            <a:br/>
            <a:r>
              <a:t>✗ Invalid Example</a:t>
            </a:r>
            <a:br/>
            <a:r>
              <a:t>POST /api/inbound-receipts</a:t>
            </a:r>
            <a:br/>
            <a:r>
              <a:t>{ "quantity": 115 }</a:t>
            </a:r>
            <a:br/>
            <a:r>
              <a:t>// ordered:100, 115&gt;110</a:t>
            </a:r>
            <a:br/>
            <a:r>
              <a:t>→ 409 Conflict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852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맑은 고딕"/>
              </a:defRPr>
            </a:pPr>
            <a:r>
              <a:t>→ Few-shot example로 기능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Logic Anchoring: Sycophancy 방어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모델 재훈련 없이, 프롬프트 구조만으로 추종성(Sycophancy)을 완화하는 inference-time 방어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00400" cy="29260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맑은 고딕"/>
              </a:defRPr>
            </a:pPr>
            <a:r>
              <a:t>STEP 1  ALS 규칙 (Anchor)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ALS-WMS-INB-001-R003</a:t>
            </a:r>
            <a:br/>
            <a:br/>
            <a:r>
              <a:t>WHEN:</a:t>
            </a:r>
            <a:br/>
            <a:r>
              <a:t>  received + new &gt; ordered × 1.1</a:t>
            </a:r>
            <a:br/>
            <a:r>
              <a:t>THEN:</a:t>
            </a:r>
            <a:br/>
            <a:r>
              <a:t>  Reject (HTTP 409)</a:t>
            </a:r>
            <a:br/>
            <a:r>
              <a:t>BECAUSE:</a:t>
            </a:r>
            <a:br/>
            <a:r>
              <a:t>  10% 초과 = PO 불일치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8B949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560320"/>
            <a:ext cx="2926080" cy="29260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349"/>
                </a:solidFill>
                <a:latin typeface="맑은 고딕"/>
              </a:defRPr>
            </a:pPr>
            <a:r>
              <a:t>STEP 2  충돌하는 요청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0040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사용자:</a:t>
            </a:r>
            <a:br/>
            <a:r>
              <a:t>"초과입고를 30%까지</a:t>
            </a:r>
            <a:br/>
            <a:r>
              <a:t>  허용해줘"</a:t>
            </a:r>
            <a:br/>
            <a:br/>
            <a:r>
              <a:t>기존 WHEN 절의 1.1 (10%)</a:t>
            </a:r>
            <a:br/>
            <a:r>
              <a:t>  vs 요청된 1.3 (30%)</a:t>
            </a:r>
            <a:br/>
            <a:br/>
            <a:r>
              <a:t>⚡ 충돌 감지!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8B949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383280" cy="29260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697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맑은 고딕"/>
              </a:defRPr>
            </a:pPr>
            <a:r>
              <a:t>STEP 3  탐지 &amp; 경고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AI 에이전트 응답:</a:t>
            </a:r>
            <a:br/>
            <a:br/>
            <a:r>
              <a:t>"이 변경은</a:t>
            </a:r>
            <a:br/>
            <a:r>
              <a:t> ALS-WMS-INB-001-R003</a:t>
            </a:r>
            <a:br/>
            <a:r>
              <a:t> 과 충돌합니다.</a:t>
            </a:r>
            <a:br/>
            <a:br/>
            <a:r>
              <a:t> BECAUSE: 10% 초과는</a:t>
            </a:r>
            <a:br/>
            <a:r>
              <a:t> PO 불일치 위험이 있어</a:t>
            </a:r>
            <a:br/>
            <a:r>
              <a:t> 설정된 규칙입니다.</a:t>
            </a:r>
            <a:br/>
            <a:br/>
            <a:r>
              <a:t> 변경하시겠습니까?"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698480" cy="7315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맑은 고딕"/>
              </a:defRPr>
            </a:pPr>
            <a:r>
              <a:t>핵심: WHEN 절의 명시적 조건 → 충돌 판별 용이  |  BECAUSE 절 → 거부 근거 제공  |  규칙 번호 → 신뢰성 있는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14476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자연어 설계문서에서는 규칙 경계가 모호하여 → LLM이 충돌을 일관되게 탐지하지 못함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3그룹 비교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요구사항만 (바이브코딩)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설계 문서 없이 LLM에 위임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+ 자연어 설계문서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DDL, API 명세, 비즈니스 규칙 (산문)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029200" cy="10058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+ ALS 문서 (H-BLI)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맑은 고딕"/>
              </a:defRPr>
            </a:pPr>
            <a:r>
              <a:t>동일 정보를 구조화된 형식으로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4680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A6FF"/>
                </a:solidFill>
                <a:latin typeface="맑은 고딕"/>
              </a:defRPr>
            </a:pPr>
            <a:r>
              <a:t>B vs A → 정보량 효과  |  C vs B → 구조화 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실험 환경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86000"/>
            <a:ext cx="5029200" cy="3931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도메인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WMS (창고관리시스템) 4개 핵심 업무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에이전트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Claude Code CLI (Sonnet 4.5)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태스크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T1 입고 → T2 출고 → T3 이동 → T4 실사 → T5 충돌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규모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98 LCR 항목 + 8 CDR 시나리오 + 19 테이블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반복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그룹당 5회 (n=5)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정적 분석 기반 (체크리스트 Y/N 판정)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특이사항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점진적 개발 (이전 태스크 위에 누적)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RESULTS — RQ1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RQ1: 로직 준수율 (LCR)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90.7%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±3.4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20116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94.7%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±5.5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20116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96.1%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±0.9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685800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Δ(C-B)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T1: Inbound (25)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84.8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86.4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96.8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572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+10.4%p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T2: Outbound (28)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88.6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96.4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93.6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−2.8%p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T3: Transfer (20)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96.0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95.0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266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−5.0%p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T4: Adjustment (25)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93.6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96.0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99.2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+3.2%p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Overall (98)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90.7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94.7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96.1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961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+1.4%p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4251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핵심 발견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6634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정보량 효과 (B-A)</a:t>
            </a:r>
            <a:br/>
            <a:r>
              <a:t>  +4.0%p → 핵심 동인</a:t>
            </a:r>
            <a:br/>
            <a:br/>
            <a:r>
              <a:t>구조화 효과 (C-B)</a:t>
            </a:r>
            <a:br/>
            <a:r>
              <a:t>  +1.4%p → 소폭 추가</a:t>
            </a:r>
            <a:br/>
            <a:br/>
            <a:r>
              <a:t>→ LCR에서는 설계 문서의</a:t>
            </a:r>
            <a:br/>
            <a:r>
              <a:t>   존재 자체가 더 결정적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RESULTS — RQ2  ★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RQ2: 충돌 탐지율 (CDR)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85349"/>
                </a:solidFill>
                <a:latin typeface="맑은 고딕"/>
              </a:defRPr>
            </a:pPr>
            <a:r>
              <a:t>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8개 전부 미탐지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29E22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D29E22"/>
                </a:solidFill>
                <a:latin typeface="맑은 고딕"/>
              </a:defRPr>
            </a:pPr>
            <a:r>
              <a:t>17.5%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산발적 탐지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FB950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8개 전부 완벽 탐지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685800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맑은 고딕"/>
              </a:defRPr>
            </a:pPr>
            <a:r>
              <a:t>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맑은 고딕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5-1: Over-receiving 10%→30%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754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54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1/5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754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92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5-2: FIFO 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992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992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9926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03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5-3: 승인 절차 생략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2303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681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5-4: 감사 로그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468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468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1/5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4681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058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5-5: HAZMAT 일반 구역 배치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705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5705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1/5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5705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5-6: 유통기한 미달 입고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9436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9436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59436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1813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5-7: 안전재고 규칙 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6181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6181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6181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4190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D1D9"/>
                </a:solidFill>
                <a:latin typeface="맑은 고딕"/>
              </a:defRPr>
            </a:pPr>
            <a:r>
              <a:t>5-8: 고가 물품 자동 승인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64190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5349"/>
                </a:solidFill>
                <a:latin typeface="맑은 고딕"/>
              </a:defRPr>
            </a:pPr>
            <a:r>
              <a:t>0/5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64190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29E22"/>
                </a:solidFill>
                <a:latin typeface="맑은 고딕"/>
              </a:defRPr>
            </a:pPr>
            <a:r>
              <a:t>4/5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64190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맑은 고딕"/>
              </a:defRPr>
            </a:pPr>
            <a:r>
              <a:t>5/5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438912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2104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ALS의 차별적 가치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9377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맑은 고딕"/>
              </a:defRPr>
            </a:pPr>
            <a:r>
              <a:t>구조화 효과 (C-B)</a:t>
            </a:r>
            <a:br/>
            <a:r>
              <a:t>  +82.5%p</a:t>
            </a:r>
            <a:br/>
            <a:br/>
            <a:r>
              <a:t>LCR의 +1.4%p와 대조적</a:t>
            </a:r>
            <a:br/>
            <a:br/>
            <a:r>
              <a:t>→ 로직 구현에는 정보의 양</a:t>
            </a:r>
            <a:br/>
            <a:r>
              <a:t>   충돌 탐지에는 정보의 구조</a:t>
            </a:r>
            <a:br/>
            <a:r>
              <a:t>   가 핵심 변수</a:t>
            </a:r>
            <a:br/>
            <a:br/>
            <a:r>
              <a:t>→ 규칙 번호 + BECAUSE 절이</a:t>
            </a:r>
            <a:br/>
            <a:r>
              <a:t>   Logic Anchoring의 핵심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RESULTS — 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RQ3: 스키마 일탈 건수 (SDC)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맑은 고딕"/>
              </a:defRPr>
            </a:pPr>
            <a:r>
              <a:t>낮을수록 양호  |  19개 참조 테이블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5349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44.1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±5.9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테이블 10.7개 누락</a:t>
            </a:r>
            <a:br/>
            <a:r>
              <a:t>컬럼 31.6개 누락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031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2240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651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474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테이블 1개 누락</a:t>
            </a:r>
            <a:br/>
            <a:r>
              <a:t>가장 안정적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38328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맑은 고딕"/>
              </a:defRPr>
            </a:pPr>
            <a:r>
              <a:t>±5.7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40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이상치 제외 시 1.0</a:t>
            </a:r>
            <a:br/>
            <a:r>
              <a:t>(run3: SDC=19)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맑은 고딕"/>
              </a:defRPr>
            </a:pPr>
            <a:r>
              <a:t>핵심 발견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설계 문서 유무가 SDC의 결정적 변수  (A=44.1 vs B/C ≈ 1~3.5, 95% 이상 감소)</a:t>
            </a:r>
            <a:br/>
            <a:r>
              <a:t>요구사항만으로는 19개 중 평균 10.7개 테이블을 생성하지 못함 → 에이전트의 누적 개발에서 초기 오류가 전파·증폭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종합 논의: 정보의 양 vs 정보의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메트릭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Group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정보량 효과</a:t>
            </a:r>
            <a:br/>
            <a:r>
              <a:t>(B-A)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구조화 효과</a:t>
            </a:r>
            <a:br/>
            <a:r>
              <a:t>(C-B)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핵심 동인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5349"/>
                </a:solidFill>
                <a:latin typeface="맑은 고딕"/>
              </a:defRPr>
            </a:pPr>
            <a:r>
              <a:t>90.7%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맑은 고딕"/>
              </a:defRPr>
            </a:pPr>
            <a:r>
              <a:t>94.7%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맑은 고딕"/>
              </a:defRPr>
            </a:pPr>
            <a:r>
              <a:t>96.1%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+4.0%p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+1.4%p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정보의 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CDR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5349"/>
                </a:solidFill>
                <a:latin typeface="맑은 고딕"/>
              </a:defRPr>
            </a:pPr>
            <a:r>
              <a:t>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맑은 고딕"/>
              </a:defRPr>
            </a:pPr>
            <a:r>
              <a:t>17.5%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63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+17.5%p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+82.5%p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E22"/>
                </a:solidFill>
                <a:latin typeface="맑은 고딕"/>
              </a:defRPr>
            </a:pPr>
            <a:r>
              <a:t>정보의 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611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5349"/>
                </a:solidFill>
                <a:latin typeface="맑은 고딕"/>
              </a:defRPr>
            </a:pPr>
            <a:r>
              <a:t>44.1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611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맑은 고딕"/>
              </a:defRPr>
            </a:pPr>
            <a: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611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FB950"/>
                </a:solidFill>
                <a:latin typeface="맑은 고딕"/>
              </a:defRPr>
            </a:pPr>
            <a:r>
              <a:t>3.5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−43.1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+2.5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맑은 고딕"/>
              </a:defRPr>
            </a:pPr>
            <a:r>
              <a:t>정보의 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66344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F8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349"/>
                </a:solidFill>
                <a:latin typeface="맑은 고딕"/>
              </a:defRPr>
            </a:pPr>
            <a:r>
              <a:t>01  설계 문서의 존재는 필수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66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바이브코딩(요구사항만)은 세부 규칙 누락, 심각한 스키마 이탈,</a:t>
            </a:r>
            <a:br/>
            <a:r>
              <a:t>완전한 충돌 미탐지를 야기. 에이전트의 반복 수정 능력으로 보완 불가.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59" y="466344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39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맑은 고딕"/>
              </a:defRPr>
            </a:pPr>
            <a:r>
              <a:t>02  ALS의 차별적 가치는 CDR에서 압도적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39" y="5166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LCR에서 C-B = +1.4%p (소폭) vs CDR에서 C-B = +82.5%p (압도적)</a:t>
            </a:r>
            <a:br/>
            <a:r>
              <a:t>→ 로직 구현에는 정보의 양, 충돌 탐지에는 정보의 구조가 핵심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663440"/>
            <a:ext cx="3383280" cy="19202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맑은 고딕"/>
              </a:defRPr>
            </a:pPr>
            <a:r>
              <a:t>03  프롬프트 구조로 Sycophancy 방어 가능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1663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모델 재훈련 없이 규칙 번호 체계 + BECAUSE 절만으로</a:t>
            </a:r>
            <a:br/>
            <a:r>
              <a:t>inference-time에서 100% 충돌 탐지 달성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맑은 고딕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한계 및 향후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E22"/>
                </a:solidFill>
                <a:latin typeface="맑은 고딕"/>
              </a:defRPr>
            </a:pPr>
            <a:r>
              <a:t>연구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단일 도메인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WMS만으로 실험 — 다른 도메인 일반화 필요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단일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Claude Sonnet 4.5만 사용 — 모델 간 차이 미검증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소규모 반복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n=5의 탐색적 연구 — 통계적 유의성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정적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빌드/런타임 테스트 미포함 — 로직 존재 여부만 판정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단일 평가자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892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확증 편향 가능 — 복수 평가자 일치도 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맑은 고딕"/>
              </a:defRPr>
            </a:pPr>
            <a:r>
              <a:t>문서 분량 차이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532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맑은 고딕"/>
              </a:defRPr>
            </a:pPr>
            <a:r>
              <a:t>B(23.6KB) vs C(54.1KB) — 혼재 변수 가능성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맑은 고딕"/>
              </a:defRPr>
            </a:pPr>
            <a:r>
              <a:t>향후 연구 방향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8600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다중 도메인 검증 (의료, 금융, ERP 등)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92608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다중 LLM 검증 (GPT-4, Gemini, Llama 등)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6616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ALS 자동 생성 도구 개발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20624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SDLC 전체 범위 확장 (테스트, 코드 리뷰 등)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84632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실제 팀 협업 환경에서의 검증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486400"/>
            <a:ext cx="5029200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맑은 고딕"/>
              </a:defRPr>
            </a:pPr>
            <a:r>
              <a:t>→  복잡도 수준별 효과 측정 (Ablation Study)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72178"/>
            <a:ext cx="137160" cy="1371600"/>
          </a:xfrm>
          <a:prstGeom prst="roundRect">
            <a:avLst>
              <a:gd name="adj" fmla="val 2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107217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1225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Atomic Logic Sheet는 프롬프트 구조만으로 LLM의 Sycophancy를 방어한다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443778"/>
            <a:ext cx="9144000" cy="9144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253521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맑은 고딕"/>
              </a:defRPr>
            </a:pPr>
            <a:r>
              <a:t>LCR  96.1%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35218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설계 문서의 존재가 로직 준수의 핵심 동인</a:t>
            </a:r>
            <a:br/>
            <a:r>
              <a:t>(정보량 효과 +4.0%p &gt; 구조화 효과 +1.4%p)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541058"/>
            <a:ext cx="9144000" cy="9144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63249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맑은 고딕"/>
              </a:defRPr>
            </a:pPr>
            <a:r>
              <a:t>CDR 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32498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ALS 구조화가 충돌 탐지의 결정적 변수</a:t>
            </a:r>
            <a:br/>
            <a:r>
              <a:t>(구조화 효과 +82.5%p ≫ 정보량 효과 +17.5%p)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638337"/>
            <a:ext cx="9144000" cy="9144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472977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E22"/>
                </a:solidFill>
                <a:latin typeface="맑은 고딕"/>
              </a:defRPr>
            </a:pPr>
            <a:r>
              <a:t>SDC  3.5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29777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맑은 고딕"/>
              </a:defRPr>
            </a:pPr>
            <a:r>
              <a:t>설계 문서가 스키마를 안정화</a:t>
            </a:r>
            <a:br/>
            <a:r>
              <a:t>(A=44.1 → B/C ≈ 1~3.5, 95% 이상 감소)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949E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맑은 고딕"/>
              </a:defRPr>
            </a:pPr>
            <a:r>
              <a:t>github.com/tank9567/ALS-WMS-Research-Experiment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맑은 고딕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2971</Words>
  <Application>Microsoft Office PowerPoint</Application>
  <PresentationFormat>와이드스크린</PresentationFormat>
  <Paragraphs>384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tank9567 tank9567</cp:lastModifiedBy>
  <cp:revision>6</cp:revision>
  <dcterms:created xsi:type="dcterms:W3CDTF">2013-01-27T09:14:16Z</dcterms:created>
  <dcterms:modified xsi:type="dcterms:W3CDTF">2026-03-24T04:58:22Z</dcterms:modified>
  <cp:category/>
</cp:coreProperties>
</file>